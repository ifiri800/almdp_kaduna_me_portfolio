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839" cy="685800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91440" cy="6858000"/>
          </a:xfrm>
          <a:prstGeom prst="rect">
            <a:avLst/>
          </a:prstGeom>
          <a:solidFill>
            <a:srgbClr val="C9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99730"/>
                </a:solidFill>
                <a:latin typeface="Aptos Display"/>
              </a:rPr>
              <a:t>ALMDP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Baseline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67712"/>
            <a:ext cx="6720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DDEBF7"/>
                </a:solidFill>
                <a:latin typeface="Aptos"/>
              </a:rPr>
              <a:t>Agricultural Livelihoods and MSME Development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5478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Kaduna State, Nigeria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0050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DEBF7"/>
                </a:solidFill>
                <a:latin typeface="Aptos"/>
              </a:rPr>
              <a:t>Baseline year: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37083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DEBF7"/>
                </a:solidFill>
                <a:latin typeface="Aptos"/>
              </a:rPr>
              <a:t>Implementation: January 2027 - December 2030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5074920"/>
            <a:ext cx="6217920" cy="502920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5184648"/>
            <a:ext cx="588873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B4A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32588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10,000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05740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DEBF7"/>
                </a:solidFill>
                <a:latin typeface="Aptos"/>
              </a:rPr>
              <a:t>Target beneficiaries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880360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C99730"/>
                </a:solidFill>
                <a:latin typeface="Aptos Display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49300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LGAs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880360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C99730"/>
                </a:solidFill>
                <a:latin typeface="Aptos Display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4930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Value chains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7548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M&amp;E Portfolio Demonstration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5349240"/>
            <a:ext cx="3108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DEBF7"/>
                </a:solidFill>
                <a:latin typeface="Aptos"/>
              </a:rPr>
              <a:t>Results framework â€¢ Baseline â€¢ DQA â€¢ Analysis â€¢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Baseline evidence establishes the starting position for implementation and results tracking.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EXECUTIVE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B4A"/>
                </a:solidFill>
                <a:latin typeface="Aptos Display"/>
              </a:rPr>
              <a:t>Baseline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2628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B30"/>
                </a:solidFill>
                <a:latin typeface="Aptos"/>
              </a:rPr>
              <a:t>The baseline indicates a mixed starting position: agricultural practice adoption and beneficiary income are relatively strong, while market access, economic resilience, women's economic outcomes and MSME performance require targeted implementation attention.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26280"/>
            <a:ext cx="4526280" cy="658368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636008"/>
            <a:ext cx="4197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F7A52"/>
                </a:solidFill>
                <a:latin typeface="Aptos"/>
              </a:rPr>
              <a:t>2 indicators already meet or exceed their 2030 targets.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85232"/>
            <a:ext cx="4526280" cy="658368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394960"/>
            <a:ext cx="4197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2B4A"/>
                </a:solidFill>
                <a:latin typeface="Aptos"/>
              </a:rPr>
              <a:t>5 indicators were not measurable at baseline because implementation-dependent data were unavailable.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002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00200"/>
            <a:ext cx="64008" cy="150876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828800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F7A52"/>
                </a:solidFill>
                <a:latin typeface="Aptos Display"/>
              </a:rPr>
              <a:t>67.81%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41448"/>
            <a:ext cx="214884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Farmers adopting 3+ recommended practices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6002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600200"/>
            <a:ext cx="64008" cy="150876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8" y="1828800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04343"/>
                </a:solidFill>
                <a:latin typeface="Aptos Display"/>
              </a:rPr>
              <a:t>30.60%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441448"/>
            <a:ext cx="214884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Beneficiaries reporting economic resilience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33756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337560"/>
            <a:ext cx="64008" cy="150876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566160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04343"/>
                </a:solidFill>
                <a:latin typeface="Aptos Display"/>
              </a:rPr>
              <a:t>27.31%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178808"/>
            <a:ext cx="214884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Farmers selling through structured markets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33756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3337560"/>
            <a:ext cx="64008" cy="1508760"/>
          </a:xfrm>
          <a:prstGeom prst="rect">
            <a:avLst/>
          </a:prstGeom>
          <a:solidFill>
            <a:srgbClr val="C9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6568" y="3566160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99730"/>
                </a:solidFill>
                <a:latin typeface="Aptos Display"/>
              </a:rPr>
              <a:t>17.33%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178808"/>
            <a:ext cx="214884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Average post-harvest loss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5166360"/>
            <a:ext cx="5257800" cy="749808"/>
          </a:xfrm>
          <a:prstGeom prst="roundRect">
            <a:avLst/>
          </a:prstGeom>
          <a:solidFill>
            <a:srgbClr val="EBE4F4"/>
          </a:solidFill>
          <a:ln w="12700">
            <a:solidFill>
              <a:srgbClr val="69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5276088"/>
            <a:ext cx="492861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94E8A"/>
                </a:solidFill>
                <a:latin typeface="Aptos"/>
              </a:rPr>
              <a:t>Priority management focus: market access + resilience + MSME performance + gender-responsive economic outcomes.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Project Scale and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The simulated programme is designed around 10,000 direct beneficiaries across seven LGAs and eight agricultural value chains.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PROJECT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057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4008" cy="16002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42B4A"/>
                </a:solidFill>
                <a:latin typeface="Aptos Display"/>
              </a:rPr>
              <a:t>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Target beneficiaries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508760"/>
            <a:ext cx="2057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508760"/>
            <a:ext cx="64008" cy="160020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173736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F7A52"/>
                </a:solidFill>
                <a:latin typeface="Aptos Display"/>
              </a:rPr>
              <a:t>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350008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Smallholder farmers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508760"/>
            <a:ext cx="2057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508760"/>
            <a:ext cx="64008" cy="160020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173736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A5D8C"/>
                </a:solidFill>
                <a:latin typeface="Aptos Display"/>
              </a:rPr>
              <a:t>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350008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Agricultural MSMEs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508760"/>
            <a:ext cx="2057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1508760"/>
            <a:ext cx="64008" cy="1600200"/>
          </a:xfrm>
          <a:prstGeom prst="rect">
            <a:avLst/>
          </a:prstGeom>
          <a:solidFill>
            <a:srgbClr val="C9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173736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C99730"/>
                </a:solidFill>
                <a:latin typeface="Aptos Display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350008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LGAs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1508760"/>
            <a:ext cx="2057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64040" y="1508760"/>
            <a:ext cx="64008" cy="1600200"/>
          </a:xfrm>
          <a:prstGeom prst="rect">
            <a:avLst/>
          </a:prstGeom>
          <a:solidFill>
            <a:srgbClr val="69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8" y="173736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694E8A"/>
                </a:solidFill>
                <a:latin typeface="Aptos Display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9" y="2350008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Value chains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429000"/>
            <a:ext cx="5303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675887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 Display"/>
              </a:rPr>
              <a:t>Geographic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60520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Chikun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Igabi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Kachia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Kajuru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Kaduna North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Kaduna South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Zaria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429000"/>
            <a:ext cx="5303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675887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 Display"/>
              </a:rPr>
              <a:t>Agricultural value chains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160520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Maize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Rice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Soybean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Ginger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Tomato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Vegetables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Sorghum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Groundnut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Four objectives define the results pathway from agricultural productivity to inclusive economic resilience.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RESULTS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12080" cy="1783080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F7A52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 Display"/>
              </a:rPr>
              <a:t>Productivity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50008"/>
            <a:ext cx="3886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Increase adoption of improved agricultural practices and technologies.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212080" cy="178308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A5D8C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82880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 Display"/>
              </a:rPr>
              <a:t>Market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350008"/>
            <a:ext cx="3886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Improve market participation and access to structured buyers.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5212080" cy="1783080"/>
          </a:xfrm>
          <a:prstGeom prst="roundRect">
            <a:avLst/>
          </a:prstGeom>
          <a:solidFill>
            <a:srgbClr val="EBE4F4"/>
          </a:solidFill>
          <a:ln w="12700">
            <a:solidFill>
              <a:srgbClr val="69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694E8A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02336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 Display"/>
              </a:rPr>
              <a:t>MSME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544568"/>
            <a:ext cx="3886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Improve agricultural MSME business performance and management.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212080" cy="1783080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C99730"/>
                </a:solidFill>
                <a:latin typeface="Aptos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02336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 Display"/>
              </a:rPr>
              <a:t>Inclusion &amp; 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544568"/>
            <a:ext cx="3886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Increase inclusion and resilience of women and youth.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Theory of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The programme links resources and implementation activities to outputs, outcomes and longer-term impact.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RESULTS PATHWAY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874519" cy="59436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947672"/>
            <a:ext cx="1655063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Aptos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5176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2B30"/>
                </a:solidFill>
                <a:latin typeface="Aptos"/>
              </a:rPr>
              <a:t>Resources
people â€¢ funds â€¢ systems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04872" y="2176272"/>
            <a:ext cx="310896" cy="0"/>
          </a:xfrm>
          <a:prstGeom prst="line">
            <a:avLst/>
          </a:prstGeom>
          <a:ln w="22860">
            <a:solidFill>
              <a:srgbClr val="5C6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1874519"/>
            <a:ext cx="1874519" cy="594360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1947672"/>
            <a:ext cx="1655063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Aptos"/>
              </a:rPr>
              <a:t>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65176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2B30"/>
                </a:solidFill>
                <a:latin typeface="Aptos"/>
              </a:rPr>
              <a:t>Training
market linkage
MSME support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90872" y="2176272"/>
            <a:ext cx="310896" cy="0"/>
          </a:xfrm>
          <a:prstGeom prst="line">
            <a:avLst/>
          </a:prstGeom>
          <a:ln w="22860">
            <a:solidFill>
              <a:srgbClr val="5C6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1874519"/>
            <a:ext cx="1874519" cy="594360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947672"/>
            <a:ext cx="1655063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Aptos"/>
              </a:rPr>
              <a:t>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265176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2B30"/>
                </a:solidFill>
                <a:latin typeface="Aptos"/>
              </a:rPr>
              <a:t>Farmers trained
MSMEs supported
events delivered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76872" y="2176272"/>
            <a:ext cx="310896" cy="0"/>
          </a:xfrm>
          <a:prstGeom prst="line">
            <a:avLst/>
          </a:prstGeom>
          <a:ln w="22860">
            <a:solidFill>
              <a:srgbClr val="5C6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0920" y="1874519"/>
            <a:ext cx="1874519" cy="594360"/>
          </a:xfrm>
          <a:prstGeom prst="roundRect">
            <a:avLst/>
          </a:prstGeom>
          <a:solidFill>
            <a:srgbClr val="EBE4F4"/>
          </a:solidFill>
          <a:ln w="12700">
            <a:solidFill>
              <a:srgbClr val="69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1947672"/>
            <a:ext cx="1655063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Aptos"/>
              </a:rPr>
              <a:t>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265176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2B30"/>
                </a:solidFill>
                <a:latin typeface="Aptos"/>
              </a:rPr>
              <a:t>Adoption
market access
profitability
resilience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62872" y="2176272"/>
            <a:ext cx="310896" cy="0"/>
          </a:xfrm>
          <a:prstGeom prst="line">
            <a:avLst/>
          </a:prstGeom>
          <a:ln w="22860">
            <a:solidFill>
              <a:srgbClr val="5C6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20" y="1874519"/>
            <a:ext cx="1874519" cy="594360"/>
          </a:xfrm>
          <a:prstGeom prst="roundRect">
            <a:avLst/>
          </a:prstGeom>
          <a:solidFill>
            <a:srgbClr val="E0F1F2"/>
          </a:solidFill>
          <a:ln w="12700">
            <a:solidFill>
              <a:srgbClr val="2A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6648" y="1947672"/>
            <a:ext cx="1655063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Aptos"/>
              </a:rPr>
              <a:t>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65176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2B30"/>
                </a:solidFill>
                <a:latin typeface="Aptos"/>
              </a:rPr>
              <a:t>Higher income
and stronger
livelihood resilience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709160"/>
            <a:ext cx="10149840" cy="82296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818888"/>
            <a:ext cx="982065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B4A"/>
                </a:solidFill>
                <a:latin typeface="Aptos"/>
              </a:rPr>
              <a:t>M&amp;E implication: every major stage requires defined indicators, data sources, verification procedures and management use.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M&amp;E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The portfolio connects programme design, indicator definitions, data collection, analysis and reporting.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M&amp;E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325880" cy="96012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901952"/>
            <a:ext cx="110642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B4A"/>
                </a:solidFill>
                <a:latin typeface="Aptos"/>
              </a:rPr>
              <a:t>Results
Framework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304288"/>
            <a:ext cx="91440" cy="0"/>
          </a:xfrm>
          <a:prstGeom prst="line">
            <a:avLst/>
          </a:prstGeom>
          <a:ln w="15240">
            <a:solidFill>
              <a:srgbClr val="5C6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38528" y="1828800"/>
            <a:ext cx="1325880" cy="960120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56" y="1901952"/>
            <a:ext cx="110642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B4A"/>
                </a:solidFill>
                <a:latin typeface="Aptos"/>
              </a:rPr>
              <a:t>Indicators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64408" y="2304288"/>
            <a:ext cx="91440" cy="0"/>
          </a:xfrm>
          <a:prstGeom prst="line">
            <a:avLst/>
          </a:prstGeom>
          <a:ln w="15240">
            <a:solidFill>
              <a:srgbClr val="5C6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74135" y="1828800"/>
            <a:ext cx="1325880" cy="960120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3" y="1901952"/>
            <a:ext cx="110642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B4A"/>
                </a:solidFill>
                <a:latin typeface="Aptos"/>
              </a:rPr>
              <a:t>Data
Requirements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0016" y="2304288"/>
            <a:ext cx="91440" cy="0"/>
          </a:xfrm>
          <a:prstGeom prst="line">
            <a:avLst/>
          </a:prstGeom>
          <a:ln w="15240">
            <a:solidFill>
              <a:srgbClr val="5C6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09743" y="1828800"/>
            <a:ext cx="1325880" cy="960120"/>
          </a:xfrm>
          <a:prstGeom prst="roundRect">
            <a:avLst/>
          </a:prstGeom>
          <a:solidFill>
            <a:srgbClr val="EBE4F4"/>
          </a:solidFill>
          <a:ln w="12700">
            <a:solidFill>
              <a:srgbClr val="69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1" y="1901952"/>
            <a:ext cx="110642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B4A"/>
                </a:solidFill>
                <a:latin typeface="Aptos"/>
              </a:rPr>
              <a:t>Collection
Tools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35623" y="2304288"/>
            <a:ext cx="91441" cy="0"/>
          </a:xfrm>
          <a:prstGeom prst="line">
            <a:avLst/>
          </a:prstGeom>
          <a:ln w="15240">
            <a:solidFill>
              <a:srgbClr val="5C6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45351" y="1828800"/>
            <a:ext cx="1325880" cy="960120"/>
          </a:xfrm>
          <a:prstGeom prst="roundRect">
            <a:avLst/>
          </a:prstGeom>
          <a:solidFill>
            <a:srgbClr val="E0F1F2"/>
          </a:solidFill>
          <a:ln w="12700">
            <a:solidFill>
              <a:srgbClr val="2A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1901952"/>
            <a:ext cx="110642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B4A"/>
                </a:solidFill>
                <a:latin typeface="Aptos"/>
              </a:rPr>
              <a:t>Dataset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71231" y="2304288"/>
            <a:ext cx="91440" cy="0"/>
          </a:xfrm>
          <a:prstGeom prst="line">
            <a:avLst/>
          </a:prstGeom>
          <a:ln w="15240">
            <a:solidFill>
              <a:srgbClr val="5C6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680960" y="1828800"/>
            <a:ext cx="1325880" cy="96012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1901952"/>
            <a:ext cx="110642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B4A"/>
                </a:solidFill>
                <a:latin typeface="Aptos"/>
              </a:rPr>
              <a:t>Analysis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06840" y="2304288"/>
            <a:ext cx="91440" cy="0"/>
          </a:xfrm>
          <a:prstGeom prst="line">
            <a:avLst/>
          </a:prstGeom>
          <a:ln w="15240">
            <a:solidFill>
              <a:srgbClr val="5C6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16567" y="1828800"/>
            <a:ext cx="1325880" cy="960120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5" y="1901952"/>
            <a:ext cx="110642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B4A"/>
                </a:solidFill>
                <a:latin typeface="Aptos"/>
              </a:rPr>
              <a:t>Dashboard /
Report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442447" y="2304288"/>
            <a:ext cx="91440" cy="0"/>
          </a:xfrm>
          <a:prstGeom prst="line">
            <a:avLst/>
          </a:prstGeom>
          <a:ln w="15240">
            <a:solidFill>
              <a:srgbClr val="5C6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552176" y="1828800"/>
            <a:ext cx="1325880" cy="960120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61903" y="1901952"/>
            <a:ext cx="110642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B4A"/>
                </a:solidFill>
                <a:latin typeface="Aptos"/>
              </a:rPr>
              <a:t>Management
Decision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337560"/>
            <a:ext cx="10972800" cy="141732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5844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B4A"/>
                </a:solidFill>
                <a:latin typeface="Aptos Display"/>
              </a:rPr>
              <a:t>Cross-cutting M&amp;E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04164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â€¢ Data quality assurance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04164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â€¢ Source 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04164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â€¢ Indicator calculation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48056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â€¢ Disaggregation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48056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â€¢ Timeliness 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48056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â€¢ Management action tracking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" y="5166360"/>
            <a:ext cx="9966960" cy="658368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6151" y="5276088"/>
            <a:ext cx="96377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B4A"/>
                </a:solidFill>
                <a:latin typeface="Aptos"/>
              </a:rPr>
              <a:t>Data flow: Field data â†’ validation â†’ clean dataset â†’ indicators â†’ dashboard/report â†’ management decision.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Baseline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A structured synthetic baseline was designed to demonstrate the full M&amp;E data lifecycle.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METHODOLOGY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400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B4A"/>
                </a:solidFill>
                <a:latin typeface="Aptos Display"/>
              </a:rPr>
              <a:t>Baseline data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67712"/>
            <a:ext cx="384048" cy="292608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286000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Synthetic baseline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97480"/>
            <a:ext cx="384048" cy="292608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34056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715768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Respondent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127248"/>
            <a:ext cx="384048" cy="292608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63824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145536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Data profiling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57015"/>
            <a:ext cx="384048" cy="292608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93591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575303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Validation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86783"/>
            <a:ext cx="384048" cy="292608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23359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005071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Data cleaning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16552"/>
            <a:ext cx="384048" cy="292608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53128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434840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Indicator calculation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46320"/>
            <a:ext cx="384048" cy="292608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82896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864607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Disaggregation and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276088"/>
            <a:ext cx="384048" cy="292608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12664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5294375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2B30"/>
                </a:solidFill>
                <a:latin typeface="Aptos"/>
              </a:rPr>
              <a:t>Reporting and management 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0" y="1508760"/>
            <a:ext cx="4251960" cy="448056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178308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B4A"/>
                </a:solidFill>
                <a:latin typeface="Aptos Display"/>
              </a:rPr>
              <a:t>Baseline parameters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43800" y="233172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43800" y="2331720"/>
            <a:ext cx="64008" cy="123444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968" y="2560320"/>
            <a:ext cx="1325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A5D8C"/>
                </a:solidFill>
                <a:latin typeface="Aptos Display"/>
              </a:rPr>
              <a:t>2,000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317296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Respondents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18320" y="233172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18320" y="2331720"/>
            <a:ext cx="64008" cy="123444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19488" y="2560320"/>
            <a:ext cx="1325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F7A52"/>
                </a:solidFill>
                <a:latin typeface="Aptos Display"/>
              </a:rPr>
              <a:t>109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17296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Variables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43800" y="379476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43800" y="3794760"/>
            <a:ext cx="64008" cy="1234440"/>
          </a:xfrm>
          <a:prstGeom prst="rect">
            <a:avLst/>
          </a:prstGeom>
          <a:solidFill>
            <a:srgbClr val="C9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44968" y="4023360"/>
            <a:ext cx="1325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C99730"/>
                </a:solidFill>
                <a:latin typeface="Aptos Display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463600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LGAs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18320" y="379476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18320" y="3794760"/>
            <a:ext cx="64008" cy="1234440"/>
          </a:xfrm>
          <a:prstGeom prst="rect">
            <a:avLst/>
          </a:prstGeom>
          <a:solidFill>
            <a:srgbClr val="69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19488" y="4023360"/>
            <a:ext cx="1325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694E8A"/>
                </a:solidFill>
                <a:latin typeface="Aptos Display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63600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Value chains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43800" y="5230368"/>
            <a:ext cx="3566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08392" y="5340096"/>
            <a:ext cx="323697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2B4A"/>
                </a:solidFill>
                <a:latin typeface="Aptos"/>
              </a:rPr>
              <a:t>Farmers: 1,600 | MSMEs: 400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Data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The DQA process identified, documented and resolved baseline data-quality issues before indicator calculation.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DQA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49240" cy="4069080"/>
          </a:xfrm>
          <a:prstGeom prst="roundRect">
            <a:avLst/>
          </a:prstGeom>
          <a:solidFill>
            <a:srgbClr val="F8E2E2"/>
          </a:solidFill>
          <a:ln w="12700">
            <a:solidFill>
              <a:srgbClr val="B0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B04343"/>
                </a:solidFill>
                <a:latin typeface="Aptos Display"/>
              </a:rPr>
              <a:t>Raw data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79"/>
            <a:ext cx="217627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Duplicate ID collisions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542032"/>
            <a:ext cx="164592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542032"/>
            <a:ext cx="235131" cy="164592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441448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217627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Total issue instances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953512"/>
            <a:ext cx="164592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953512"/>
            <a:ext cx="1551867" cy="164592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852928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91839"/>
            <a:ext cx="217627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High-priority issues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364991"/>
            <a:ext cx="164592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364991"/>
            <a:ext cx="1175657" cy="164592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264408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217627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Review 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776472"/>
            <a:ext cx="164592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3776472"/>
            <a:ext cx="376210" cy="164592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675887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709160"/>
            <a:ext cx="4480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818888"/>
            <a:ext cx="41513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04343"/>
                </a:solidFill>
                <a:latin typeface="Aptos"/>
              </a:rPr>
              <a:t>Issues were logged rather than silently overwritten.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554480"/>
            <a:ext cx="5349240" cy="4069080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8288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7A52"/>
                </a:solidFill>
                <a:latin typeface="Aptos Display"/>
              </a:rPr>
              <a:t>Post-cleaning QA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468879"/>
            <a:ext cx="217627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Duplicate IDs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2542032"/>
            <a:ext cx="164592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32520" y="2542032"/>
            <a:ext cx="18288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0" y="2441448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880360"/>
            <a:ext cx="217627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Invalid ages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2953512"/>
            <a:ext cx="164592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32520" y="2953512"/>
            <a:ext cx="18288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2852928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291839"/>
            <a:ext cx="217627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Invalid farm area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3364991"/>
            <a:ext cx="164592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32520" y="3364991"/>
            <a:ext cx="18288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3264408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703320"/>
            <a:ext cx="217627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Logic errors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776472"/>
            <a:ext cx="164592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32520" y="3776472"/>
            <a:ext cx="18288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3675887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46520" y="4315968"/>
            <a:ext cx="2148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1112" y="4425696"/>
            <a:ext cx="181965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F7A52"/>
                </a:solidFill>
                <a:latin typeface="Aptos"/>
              </a:rPr>
              <a:t>8/8 derived-variable checks passed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23960" y="4315968"/>
            <a:ext cx="2148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88552" y="4425696"/>
            <a:ext cx="181965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F7A52"/>
                </a:solidFill>
                <a:latin typeface="Aptos"/>
              </a:rPr>
              <a:t>24/24 indicators passed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13892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56F"/>
                </a:solidFill>
                <a:latin typeface="Aptos"/>
              </a:rPr>
              <a:t>DQA dimensions: accuracy â€¢ completeness â€¢ consistency â€¢ timeliness â€¢ integrity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Baseline Beneficiary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The synthetic baseline covers both smallholder farmers and agricultural MSMEs.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BENEFICIARY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49240" cy="4343400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F7A52"/>
                </a:solidFill>
                <a:latin typeface="Aptos Display"/>
              </a:rPr>
              <a:t>Smallholder farmers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377440"/>
            <a:ext cx="64008" cy="132588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60604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F7A52"/>
                </a:solidFill>
                <a:latin typeface="Aptos Display"/>
              </a:rPr>
              <a:t>1,600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18688"/>
            <a:ext cx="160020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Respondents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237744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2377440"/>
            <a:ext cx="64008" cy="1325880"/>
          </a:xfrm>
          <a:prstGeom prst="rect">
            <a:avLst/>
          </a:prstGeom>
          <a:solidFill>
            <a:srgbClr val="69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60604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94E8A"/>
                </a:solidFill>
                <a:latin typeface="Aptos Display"/>
              </a:rPr>
              <a:t>41.94%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18688"/>
            <a:ext cx="160020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Women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931920"/>
            <a:ext cx="64008" cy="1325880"/>
          </a:xfrm>
          <a:prstGeom prst="rect">
            <a:avLst/>
          </a:prstGeom>
          <a:solidFill>
            <a:srgbClr val="C9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1605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9730"/>
                </a:solidFill>
                <a:latin typeface="Aptos Display"/>
              </a:rPr>
              <a:t>29.81%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73168"/>
            <a:ext cx="160020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Youth (18-35)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393192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0" y="3931920"/>
            <a:ext cx="64008" cy="132588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41605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A5D8C"/>
                </a:solidFill>
                <a:latin typeface="Aptos Display"/>
              </a:rPr>
              <a:t>NGN 1.63M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773168"/>
            <a:ext cx="160020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Average income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554480"/>
            <a:ext cx="5349240" cy="43434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288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A5D8C"/>
                </a:solidFill>
                <a:latin typeface="Aptos Display"/>
              </a:rPr>
              <a:t>Agricultural MSMEs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37744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2377440"/>
            <a:ext cx="64008" cy="132588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260604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A5D8C"/>
                </a:solidFill>
                <a:latin typeface="Aptos Display"/>
              </a:rPr>
              <a:t>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218688"/>
            <a:ext cx="160020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Respondents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237744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41080" y="2377440"/>
            <a:ext cx="64008" cy="1325880"/>
          </a:xfrm>
          <a:prstGeom prst="rect">
            <a:avLst/>
          </a:prstGeom>
          <a:solidFill>
            <a:srgbClr val="69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42248" y="260604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94E8A"/>
                </a:solidFill>
                <a:latin typeface="Aptos Display"/>
              </a:rPr>
              <a:t>40.00%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59" y="3218688"/>
            <a:ext cx="160020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Women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93192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3931920"/>
            <a:ext cx="64008" cy="1325880"/>
          </a:xfrm>
          <a:prstGeom prst="rect">
            <a:avLst/>
          </a:prstGeom>
          <a:solidFill>
            <a:srgbClr val="C9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7688" y="41605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9730"/>
                </a:solidFill>
                <a:latin typeface="Aptos Display"/>
              </a:rPr>
              <a:t>31.50%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773168"/>
            <a:ext cx="160020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Youth (18-35)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41080" y="393192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41080" y="3931920"/>
            <a:ext cx="64008" cy="132588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42248" y="41605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F7A52"/>
                </a:solidFill>
                <a:latin typeface="Aptos Display"/>
              </a:rPr>
              <a:t>NGN 0.98M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59" y="4773168"/>
            <a:ext cx="160020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Average income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Baseline Indicator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The 24-indicator framework separates measurable baseline results from implementation-dependent indicators.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INDICATOR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240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64008" cy="155448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28800"/>
            <a:ext cx="1874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B04343"/>
                </a:solidFill>
                <a:latin typeface="Aptos Display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187452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Requires improvement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600200"/>
            <a:ext cx="2240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00200"/>
            <a:ext cx="64008" cy="1554480"/>
          </a:xfrm>
          <a:prstGeom prst="rect">
            <a:avLst/>
          </a:prstGeom>
          <a:solidFill>
            <a:srgbClr val="C9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1828800"/>
            <a:ext cx="1874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C99730"/>
                </a:solidFill>
                <a:latin typeface="Aptos Display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441448"/>
            <a:ext cx="187452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Not measurable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600200"/>
            <a:ext cx="2240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1600200"/>
            <a:ext cx="64008" cy="155448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828800"/>
            <a:ext cx="1874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A5D8C"/>
                </a:solidFill>
                <a:latin typeface="Aptos Display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441448"/>
            <a:ext cx="187452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Pre-implementation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600200"/>
            <a:ext cx="2240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64040" y="1600200"/>
            <a:ext cx="64008" cy="155448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5208" y="1828800"/>
            <a:ext cx="1874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F7A52"/>
                </a:solidFill>
                <a:latin typeface="Aptos Display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19" y="2441448"/>
            <a:ext cx="187452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Target met / exceeded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66160"/>
            <a:ext cx="64922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22191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B4A"/>
                </a:solidFill>
                <a:latin typeface="Aptos Display"/>
              </a:rPr>
              <a:t>What the baseline tells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315968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Half of the indicator set requires active performance improvement.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Five indicators are implementation-dependent and should be tracked after programme activities begin.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Two indicators already meet or exceed their 2030 targets and should be protected from deterioration.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3566160"/>
            <a:ext cx="4069080" cy="210312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3822191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B4A"/>
                </a:solidFill>
                <a:latin typeface="Aptos Display"/>
              </a:rPr>
              <a:t>24 indicators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315968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56F"/>
                </a:solidFill>
                <a:latin typeface="Aptos"/>
              </a:rPr>
              <a:t>100% of the results framework reviewed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4828032"/>
            <a:ext cx="3429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1271" y="4937760"/>
            <a:ext cx="309981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42B4A"/>
                </a:solidFill>
                <a:latin typeface="Aptos"/>
              </a:rPr>
              <a:t>Baseline analysis should drive implementation priorities, not simply describe starting values.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Priority Baseline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The largest management gaps are concentrated in market access, resilience, women's economic outcomes and MSME performance.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GAP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447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A5D8C"/>
                </a:solidFill>
                <a:latin typeface="Aptos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44475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F7A52"/>
                </a:solidFill>
                <a:latin typeface="Aptos"/>
              </a:rPr>
              <a:t>2030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01368"/>
            <a:ext cx="192024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62B30"/>
                </a:solidFill>
                <a:latin typeface="Aptos"/>
              </a:rPr>
              <a:t>Buyer 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828800"/>
            <a:ext cx="3977639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828800"/>
            <a:ext cx="1591056" cy="13716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181051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62B30"/>
                </a:solidFill>
                <a:latin typeface="Aptos"/>
              </a:rPr>
              <a:t>30.0%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039112"/>
            <a:ext cx="3977639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2039112"/>
            <a:ext cx="3712463" cy="13716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202082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62B30"/>
                </a:solidFill>
                <a:latin typeface="Aptos"/>
              </a:rPr>
              <a:t>70.0%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96312"/>
            <a:ext cx="192024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62B30"/>
                </a:solidFill>
                <a:latin typeface="Aptos"/>
              </a:rPr>
              <a:t>Economic resilience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523744"/>
            <a:ext cx="3977639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2523744"/>
            <a:ext cx="1622877" cy="13716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250545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62B30"/>
                </a:solidFill>
                <a:latin typeface="Aptos"/>
              </a:rPr>
              <a:t>30.6%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734056"/>
            <a:ext cx="3977639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2734056"/>
            <a:ext cx="3447288" cy="13716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27157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62B30"/>
                </a:solidFill>
                <a:latin typeface="Aptos"/>
              </a:rPr>
              <a:t>65.0%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91256"/>
            <a:ext cx="192024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62B30"/>
                </a:solidFill>
                <a:latin typeface="Aptos"/>
              </a:rPr>
              <a:t>Women income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3218687"/>
            <a:ext cx="3977639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0" y="3218687"/>
            <a:ext cx="1544385" cy="13716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3200399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62B30"/>
                </a:solidFill>
                <a:latin typeface="Aptos"/>
              </a:rPr>
              <a:t>29.1%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428999"/>
            <a:ext cx="3977639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3428999"/>
            <a:ext cx="3182112" cy="13716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59" y="3410711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62B30"/>
                </a:solidFill>
                <a:latin typeface="Aptos"/>
              </a:rPr>
              <a:t>60.0%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886200"/>
            <a:ext cx="192024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62B30"/>
                </a:solidFill>
                <a:latin typeface="Aptos"/>
              </a:rPr>
              <a:t>Structured markets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913632"/>
            <a:ext cx="3977639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0" y="3913632"/>
            <a:ext cx="1448391" cy="13716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59" y="389534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62B30"/>
                </a:solidFill>
                <a:latin typeface="Aptos"/>
              </a:rPr>
              <a:t>27.3%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4123944"/>
            <a:ext cx="3977639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0" y="4123944"/>
            <a:ext cx="2916935" cy="13716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59" y="410565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62B30"/>
                </a:solidFill>
                <a:latin typeface="Aptos"/>
              </a:rPr>
              <a:t>55.0%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581144"/>
            <a:ext cx="192024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62B30"/>
                </a:solidFill>
                <a:latin typeface="Aptos"/>
              </a:rPr>
              <a:t>Financial records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608576"/>
            <a:ext cx="3977639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4608576"/>
            <a:ext cx="2651759" cy="13716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459028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62B30"/>
                </a:solidFill>
                <a:latin typeface="Aptos"/>
              </a:rPr>
              <a:t>50.0%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4818888"/>
            <a:ext cx="3977639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0" y="4818888"/>
            <a:ext cx="3712463" cy="13716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59" y="480060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62B30"/>
                </a:solidFill>
                <a:latin typeface="Aptos"/>
              </a:rPr>
              <a:t>70.0%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35240" y="1600200"/>
            <a:ext cx="3886200" cy="4069080"/>
          </a:xfrm>
          <a:prstGeom prst="roundRect">
            <a:avLst/>
          </a:prstGeom>
          <a:solidFill>
            <a:srgbClr val="F8E2E2"/>
          </a:solidFill>
          <a:ln w="12700">
            <a:solidFill>
              <a:srgbClr val="B0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1874519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B04343"/>
                </a:solidFill>
                <a:latin typeface="Aptos Display"/>
              </a:rPr>
              <a:t>Highest-priority gaps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2423160"/>
            <a:ext cx="31546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Buyer access: 30% vs 70% target.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Economic resilience: 30.60% vs 65% target.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Women income improvement: 29.12% vs 60% target.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Structured markets: 27.31% vs 55% target.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MSME profitability remains below the 2030 target.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09560" y="4956048"/>
            <a:ext cx="3154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4152" y="5065776"/>
            <a:ext cx="2825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04343"/>
                </a:solidFill>
                <a:latin typeface="Aptos"/>
              </a:rPr>
              <a:t>Management implication: prioritize interventions where the baseline-target distance is largest and operationally actionable.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Agricultural Productivity by Value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Productivity varies substantially across value chains, creating opportunities for targeted technical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AGRICULTURAL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719072" cy="4354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Tomato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673352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14600" y="1673352"/>
            <a:ext cx="3799636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1572768"/>
            <a:ext cx="502920" cy="4629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5.42 t/ha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8835"/>
            <a:ext cx="1719072" cy="4354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Vegetables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181987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2181987"/>
            <a:ext cx="2916326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081403"/>
            <a:ext cx="502920" cy="4629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4.16 t/ha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17470"/>
            <a:ext cx="1719072" cy="4354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Ginger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690622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2690622"/>
            <a:ext cx="1451152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2590038"/>
            <a:ext cx="502920" cy="4629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2.07 t/ha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126105"/>
            <a:ext cx="1719072" cy="4354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Rice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199257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99257"/>
            <a:ext cx="1381048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3098673"/>
            <a:ext cx="502920" cy="4629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1.97 t/ha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634739"/>
            <a:ext cx="1719072" cy="4354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Soybean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707891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14600" y="3707891"/>
            <a:ext cx="1331975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3607308"/>
            <a:ext cx="502920" cy="4629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1.90 t/ha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143375"/>
            <a:ext cx="1719072" cy="4354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Maize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4216527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14600" y="4216527"/>
            <a:ext cx="1261872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59" y="4115943"/>
            <a:ext cx="502920" cy="4629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1.80 t/ha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652010"/>
            <a:ext cx="1719072" cy="4354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Sorghum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4725162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14600" y="4725162"/>
            <a:ext cx="1051560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59" y="4624578"/>
            <a:ext cx="502920" cy="4629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1.50 t/ha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160645"/>
            <a:ext cx="1719072" cy="4354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Groundnut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5233797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14600" y="5233797"/>
            <a:ext cx="960424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59" y="5133213"/>
            <a:ext cx="502920" cy="4629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1.37 t/ha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1554480"/>
            <a:ext cx="3977639" cy="4069080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18288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7A52"/>
                </a:solidFill>
                <a:latin typeface="Aptos Display"/>
              </a:rPr>
              <a:t>Key findings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2359152"/>
            <a:ext cx="3108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Tomato has the highest baseline productivity at 5.42 t/ha.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Vegetables follow at 4.16 t/ha.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Groundnut has the lowest productivity at 1.37 t/ha.</a:t>
            </a:r>
          </a:p>
          <a:p>
            <a:pPr>
              <a:spcAft>
                <a:spcPts val="800"/>
              </a:spcAft>
              <a:defRPr sz="1100">
                <a:solidFill>
                  <a:srgbClr val="262B30"/>
                </a:solidFill>
                <a:latin typeface="Aptos"/>
              </a:defRPr>
            </a:pPr>
            <a:r>
              <a:t>â€¢ Maize, sorghum and groundnut require particular productivity attention.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4800600"/>
            <a:ext cx="3154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82712" y="4910328"/>
            <a:ext cx="282549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F7A52"/>
                </a:solidFill>
                <a:latin typeface="Aptos"/>
              </a:rPr>
              <a:t>Baseline productivity: 2.448 t/ha overall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Agricultural Practice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Adoption is comparatively strong overall, but specific practices still have substantial room for expansion.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AGRICULTURAL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2039112" cy="458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Fertilizer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627631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40" y="1627631"/>
            <a:ext cx="3218374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599" y="1527048"/>
            <a:ext cx="502920" cy="485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53.6%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5975"/>
            <a:ext cx="2039112" cy="458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Improved 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159127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2159127"/>
            <a:ext cx="2730450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599" y="2058543"/>
            <a:ext cx="502920" cy="485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45.4%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17470"/>
            <a:ext cx="2039112" cy="458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Water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690622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2690622"/>
            <a:ext cx="2542371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599" y="2590038"/>
            <a:ext cx="502920" cy="485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42.3%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148964"/>
            <a:ext cx="2039112" cy="458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222116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34640" y="3222116"/>
            <a:ext cx="2321243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599" y="3121533"/>
            <a:ext cx="502920" cy="485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38.6%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680460"/>
            <a:ext cx="2039112" cy="458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IPM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753612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34640" y="3753612"/>
            <a:ext cx="2306221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599" y="3653028"/>
            <a:ext cx="502920" cy="485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38.4%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11955"/>
            <a:ext cx="2039112" cy="458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Climate-smart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4285107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34640" y="4285107"/>
            <a:ext cx="2076680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599" y="4184523"/>
            <a:ext cx="502920" cy="485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34.6%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743450"/>
            <a:ext cx="2039112" cy="458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Conservation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816602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34640" y="4816602"/>
            <a:ext cx="2043030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599" y="4716018"/>
            <a:ext cx="502920" cy="485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34.0%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274945"/>
            <a:ext cx="2039112" cy="458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Soil testing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5348097"/>
            <a:ext cx="4206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34640" y="5348097"/>
            <a:ext cx="1626012" cy="164592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599" y="5247513"/>
            <a:ext cx="502920" cy="485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27.1%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09560" y="1508760"/>
            <a:ext cx="3566160" cy="4251960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18105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F7A52"/>
                </a:solidFill>
                <a:latin typeface="Aptos Display"/>
              </a:rPr>
              <a:t>Headline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242316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F7A52"/>
                </a:solidFill>
                <a:latin typeface="Aptos Display"/>
              </a:rPr>
              <a:t>67.81%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063240"/>
            <a:ext cx="2651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62B30"/>
                </a:solidFill>
                <a:latin typeface="Aptos"/>
              </a:rPr>
              <a:t>of farmers adopt at least three recommended practices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4096512"/>
            <a:ext cx="26517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4206240"/>
            <a:ext cx="23225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F7A52"/>
                </a:solidFill>
                <a:latin typeface="Aptos"/>
              </a:rPr>
              <a:t>This exceeds the 2030 target of 65%.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828032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56F"/>
                </a:solidFill>
                <a:latin typeface="Aptos"/>
              </a:rPr>
              <a:t>Priority extension opportunities:
soil testing â€¢ conservation â€¢ climate-smart practices â€¢ IPM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Market Access and Post-Harvest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Market participation remains a major constraint, while post-harvest loss is above the programme target.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MARKET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947672" cy="6355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Regular buyer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673352"/>
            <a:ext cx="3063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7480" y="1673352"/>
            <a:ext cx="2817670" cy="16459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72768"/>
            <a:ext cx="502920" cy="6629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55.2%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08860"/>
            <a:ext cx="1947672" cy="6355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Market information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2382012"/>
            <a:ext cx="3063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2382012"/>
            <a:ext cx="2396474" cy="16459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281428"/>
            <a:ext cx="502920" cy="6629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46.9%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1947672" cy="6355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Buyer access improved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3090672"/>
            <a:ext cx="3063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3090672"/>
            <a:ext cx="1531620" cy="16459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2990088"/>
            <a:ext cx="502920" cy="6629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30.0%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26180"/>
            <a:ext cx="1947672" cy="6355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Structured markets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3799332"/>
            <a:ext cx="3063240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97480" y="3799332"/>
            <a:ext cx="1394284" cy="16459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3698748"/>
            <a:ext cx="502920" cy="6629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2B30"/>
                </a:solidFill>
                <a:latin typeface="Aptos"/>
              </a:rPr>
              <a:t>27.3%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554480"/>
            <a:ext cx="4892040" cy="2834640"/>
          </a:xfrm>
          <a:prstGeom prst="roundRect">
            <a:avLst/>
          </a:prstGeom>
          <a:solidFill>
            <a:srgbClr val="F8E2E2"/>
          </a:solidFill>
          <a:ln w="12700">
            <a:solidFill>
              <a:srgbClr val="B0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8288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B04343"/>
                </a:solidFill>
                <a:latin typeface="Aptos Display"/>
              </a:rPr>
              <a:t>Post-harvest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423160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B04343"/>
                </a:solidFill>
                <a:latin typeface="Aptos Display"/>
              </a:rPr>
              <a:t>17.33%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0632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56F"/>
                </a:solidFill>
                <a:latin typeface="Aptos"/>
              </a:rPr>
              <a:t>baseline average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4564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F7A52"/>
                </a:solidFill>
                <a:latin typeface="Aptos"/>
              </a:rPr>
              <a:t>2030 target: 12%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754880"/>
            <a:ext cx="10332720" cy="777240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" y="4864608"/>
            <a:ext cx="10003536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B4A"/>
                </a:solidFill>
                <a:latin typeface="Aptos"/>
              </a:rPr>
              <a:t>Lower is better. The programme must reduce losses by strengthening handling, storage, aggregation and value-chain practices.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Agricultural MSME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MSME profitability and financial management represent important areas for programme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MSME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4008" cy="160020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2A5D8C"/>
                </a:solidFill>
                <a:latin typeface="Aptos Display"/>
              </a:rPr>
              <a:t>NGN 356,839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Average annual profit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50876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508760"/>
            <a:ext cx="64008" cy="1600200"/>
          </a:xfrm>
          <a:prstGeom prst="rect">
            <a:avLst/>
          </a:prstGeom>
          <a:solidFill>
            <a:srgbClr val="2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73736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F7A52"/>
                </a:solidFill>
                <a:latin typeface="Aptos Display"/>
              </a:rPr>
              <a:t>NGN 550,000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50008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2030 profit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150876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0" y="1508760"/>
            <a:ext cx="64008" cy="1600200"/>
          </a:xfrm>
          <a:prstGeom prst="rect">
            <a:avLst/>
          </a:prstGeom>
          <a:solidFill>
            <a:srgbClr val="C9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173736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C99730"/>
                </a:solidFill>
                <a:latin typeface="Aptos Display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350008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Maintaining 3+ basic financial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50876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508760"/>
            <a:ext cx="64008" cy="1600200"/>
          </a:xfrm>
          <a:prstGeom prst="rect">
            <a:avLst/>
          </a:prstGeom>
          <a:solidFill>
            <a:srgbClr val="69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173736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694E8A"/>
                </a:solidFill>
                <a:latin typeface="Aptos Display"/>
              </a:rPr>
              <a:t>15.84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50008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Average employees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29000"/>
            <a:ext cx="6400800" cy="214884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6850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B4A"/>
                </a:solidFill>
                <a:latin typeface="Aptos Display"/>
              </a:rPr>
              <a:t>MSME financial picture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3159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56F"/>
                </a:solidFill>
                <a:latin typeface="Aptos"/>
              </a:rPr>
              <a:t>Annual 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27939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5D8C"/>
                </a:solidFill>
                <a:latin typeface="Aptos"/>
              </a:rPr>
              <a:t>NGN 988,565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36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56F"/>
                </a:solidFill>
                <a:latin typeface="Aptos"/>
              </a:rPr>
              <a:t>Annual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70001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04343"/>
                </a:solidFill>
                <a:latin typeface="Aptos"/>
              </a:rPr>
              <a:t>NGN 631,726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159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56F"/>
                </a:solidFill>
                <a:latin typeface="Aptos"/>
              </a:rPr>
              <a:t>Annual profit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617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7A52"/>
                </a:solidFill>
                <a:latin typeface="Aptos"/>
              </a:rPr>
              <a:t>NGN 356,839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429000"/>
            <a:ext cx="4160520" cy="2148840"/>
          </a:xfrm>
          <a:prstGeom prst="roundRect">
            <a:avLst/>
          </a:prstGeom>
          <a:solidFill>
            <a:srgbClr val="EBE4F4"/>
          </a:solidFill>
          <a:ln w="12700">
            <a:solidFill>
              <a:srgbClr val="69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368503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E8A"/>
                </a:solidFill>
                <a:latin typeface="Aptos Display"/>
              </a:rPr>
              <a:t>Management implication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27939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Strengthen financial-record keeping.</a:t>
            </a:r>
          </a:p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Improve cost and margin management.</a:t>
            </a:r>
          </a:p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Target business types with lower profitability.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Gender, Youth and Economic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Inclusion indicators are relatively close to their targets, but women's income outcomes and resilience require focused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INCLUSION &amp; RESILIENCE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4160520"/>
          </a:xfrm>
          <a:prstGeom prst="roundRect">
            <a:avLst/>
          </a:prstGeom>
          <a:solidFill>
            <a:srgbClr val="EBE4F4"/>
          </a:solidFill>
          <a:ln w="12700">
            <a:solidFill>
              <a:srgbClr val="69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94E8A"/>
                </a:solidFill>
                <a:latin typeface="Aptos Display"/>
              </a:rPr>
              <a:t>Women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2316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423160"/>
            <a:ext cx="64008" cy="1143000"/>
          </a:xfrm>
          <a:prstGeom prst="rect">
            <a:avLst/>
          </a:prstGeom>
          <a:solidFill>
            <a:srgbClr val="69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65176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694E8A"/>
                </a:solidFill>
                <a:latin typeface="Aptos Display"/>
              </a:rPr>
              <a:t>41.55%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64408"/>
            <a:ext cx="237744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Direct beneficiaries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794760"/>
            <a:ext cx="64008" cy="114300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02336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B04343"/>
                </a:solidFill>
                <a:latin typeface="Aptos Display"/>
              </a:rPr>
              <a:t>29.12%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36008"/>
            <a:ext cx="237744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Women reporting increased income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554480"/>
            <a:ext cx="3520440" cy="4160520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828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9730"/>
                </a:solidFill>
                <a:latin typeface="Aptos Display"/>
              </a:rPr>
              <a:t>Youth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42316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2423160"/>
            <a:ext cx="64008" cy="1143000"/>
          </a:xfrm>
          <a:prstGeom prst="rect">
            <a:avLst/>
          </a:prstGeom>
          <a:solidFill>
            <a:srgbClr val="C9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265176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C99730"/>
                </a:solidFill>
                <a:latin typeface="Aptos Display"/>
              </a:rPr>
              <a:t>30.17%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264408"/>
            <a:ext cx="237744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Direct beneficiaries aged 18-35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3794760"/>
            <a:ext cx="2743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3904488"/>
            <a:ext cx="24140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C99730"/>
                </a:solidFill>
                <a:latin typeface="Aptos"/>
              </a:rPr>
              <a:t>2030 target: 35%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554480"/>
            <a:ext cx="3520440" cy="4160520"/>
          </a:xfrm>
          <a:prstGeom prst="roundRect">
            <a:avLst/>
          </a:prstGeom>
          <a:solidFill>
            <a:srgbClr val="F8E2E2"/>
          </a:solidFill>
          <a:ln w="12700">
            <a:solidFill>
              <a:srgbClr val="B0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828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B04343"/>
                </a:solidFill>
                <a:latin typeface="Aptos Display"/>
              </a:rPr>
              <a:t>Resilience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242316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2423160"/>
            <a:ext cx="64008" cy="114300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265176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B04343"/>
                </a:solidFill>
                <a:latin typeface="Aptos Display"/>
              </a:rPr>
              <a:t>30.60%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264408"/>
            <a:ext cx="237744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656F"/>
                </a:solidFill>
                <a:latin typeface="Aptos"/>
              </a:rPr>
              <a:t>Economic resilience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794760"/>
            <a:ext cx="2743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3904488"/>
            <a:ext cx="24140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B04343"/>
                </a:solidFill>
                <a:latin typeface="Aptos"/>
              </a:rPr>
              <a:t>2030 target: 65%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92531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B4A"/>
                </a:solidFill>
                <a:latin typeface="Aptos"/>
              </a:rPr>
              <a:t>Priority: combine gender-responsive programming with resilience and income-generation measures.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Key Baseline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The baseline identifies clear strengths, constraints and evidence gaps for implementation planning.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FINDINGS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246120" cy="1874519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819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7A52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00200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Strong practice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30552"/>
            <a:ext cx="2788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67.81% of farmers report adopting at least three recommended practices, exceeding the 65% target.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417320"/>
            <a:ext cx="3246120" cy="1874519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5819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5D8C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600200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Income already strong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30552"/>
            <a:ext cx="2788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Average beneficiary income is above the programme's 2030 design target, requiring monitoring to protect gains.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417320"/>
            <a:ext cx="3246120" cy="1874519"/>
          </a:xfrm>
          <a:prstGeom prst="roundRect">
            <a:avLst/>
          </a:prstGeom>
          <a:solidFill>
            <a:srgbClr val="F8E2E2"/>
          </a:solidFill>
          <a:ln w="12700">
            <a:solidFill>
              <a:srgbClr val="B0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5819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04343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00200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Market access is weak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130552"/>
            <a:ext cx="2788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Only 27.31% of farmers sell through structured markets and 30% report improved buyer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03320"/>
            <a:ext cx="3246120" cy="1874519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67911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9730"/>
                </a:solidFill>
                <a:latin typeface="Aptos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86200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Resilience gap is substantial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16552"/>
            <a:ext cx="2788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Economic resilience is 30.60%, compared with a 65% target.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3703320"/>
            <a:ext cx="3246120" cy="1874519"/>
          </a:xfrm>
          <a:prstGeom prst="roundRect">
            <a:avLst/>
          </a:prstGeom>
          <a:solidFill>
            <a:srgbClr val="EBE4F4"/>
          </a:solidFill>
          <a:ln w="12700">
            <a:solidFill>
              <a:srgbClr val="69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3867911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94E8A"/>
                </a:solidFill>
                <a:latin typeface="Aptos Display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886200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MSME performance needs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416552"/>
            <a:ext cx="2788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Average annual profit is NGN 356,839 against a 2030 target of NGN 550,000.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703320"/>
            <a:ext cx="3246120" cy="1874519"/>
          </a:xfrm>
          <a:prstGeom prst="roundRect">
            <a:avLst/>
          </a:prstGeom>
          <a:solidFill>
            <a:srgbClr val="E0F1F2"/>
          </a:solidFill>
          <a:ln w="12700">
            <a:solidFill>
              <a:srgbClr val="2A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3867911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7E85"/>
                </a:solidFill>
                <a:latin typeface="Aptos Display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886200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Gender outcomes require attention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416552"/>
            <a:ext cx="2788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Women represent 41.55% of beneficiaries, but only 29.12% report increased income.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Management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Baseline evidence should translate directly into implementation priorities and corrective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MANAGEMENT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200400" cy="178308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2763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5D8C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627632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Market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Strengthen buyer networks, structured markets and market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463040"/>
            <a:ext cx="3200400" cy="1783080"/>
          </a:xfrm>
          <a:prstGeom prst="roundRect">
            <a:avLst/>
          </a:prstGeom>
          <a:solidFill>
            <a:srgbClr val="F8E2E2"/>
          </a:solidFill>
          <a:ln w="12700">
            <a:solidFill>
              <a:srgbClr val="B0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62763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04343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627632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48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Integrate climate and economic resilience into livelihood interventions.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463040"/>
            <a:ext cx="3200400" cy="1783080"/>
          </a:xfrm>
          <a:prstGeom prst="roundRect">
            <a:avLst/>
          </a:prstGeom>
          <a:solidFill>
            <a:srgbClr val="EBE4F4"/>
          </a:solidFill>
          <a:ln w="12700">
            <a:solidFill>
              <a:srgbClr val="69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162763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94E8A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1627632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MSME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148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Improve financial management, cost control and profitability.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3200400" cy="1783080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822191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9730"/>
                </a:solidFill>
                <a:latin typeface="Aptos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822191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Post-harvest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434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Target handling, storage, aggregation and value-chain bottlenecks.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3657600"/>
            <a:ext cx="3200400" cy="1783080"/>
          </a:xfrm>
          <a:prstGeom prst="roundRect">
            <a:avLst/>
          </a:prstGeom>
          <a:solidFill>
            <a:srgbClr val="E0F1F2"/>
          </a:solidFill>
          <a:ln w="12700">
            <a:solidFill>
              <a:srgbClr val="2A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3822191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7E85"/>
                </a:solidFill>
                <a:latin typeface="Aptos Display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3822191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Women's outcomes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3434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Use gender-responsive approaches to improve income and enterprise outcomes.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3657600"/>
            <a:ext cx="3200400" cy="1783080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3822191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7A52"/>
                </a:solidFill>
                <a:latin typeface="Aptos Display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1" y="3822191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M&amp;E discipline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43434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62B30"/>
                </a:solidFill>
                <a:latin typeface="Aptos"/>
              </a:rPr>
              <a:t>Maintain DQA, indicator review, verification and evidence-based decision-making.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Recommended Implementation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Priority recommendations are designed to convert baseline evidence into measurable programme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49240" cy="1874519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297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5D8C"/>
                </a:solidFill>
                <a:latin typeface="Aptos Display"/>
              </a:rPr>
              <a:t>Market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258568"/>
            <a:ext cx="4617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Strengthen buyer networks.</a:t>
            </a:r>
          </a:p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Expand structured-market participation.</a:t>
            </a:r>
          </a:p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Improve market information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349240" cy="1874519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297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7A52"/>
                </a:solidFill>
                <a:latin typeface="Aptos Display"/>
              </a:rPr>
              <a:t>Productivity &amp; losses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58568"/>
            <a:ext cx="4617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Target low-productivity value chains.</a:t>
            </a:r>
          </a:p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Reduce post-harvest losses.</a:t>
            </a:r>
          </a:p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Expand practical climate-smart support.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5349240" cy="1874519"/>
          </a:xfrm>
          <a:prstGeom prst="roundRect">
            <a:avLst/>
          </a:prstGeom>
          <a:solidFill>
            <a:srgbClr val="EBE4F4"/>
          </a:solidFill>
          <a:ln w="12700">
            <a:solidFill>
              <a:srgbClr val="69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297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94E8A"/>
                </a:solidFill>
                <a:latin typeface="Aptos Display"/>
              </a:rPr>
              <a:t>MSME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544568"/>
            <a:ext cx="4617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Improve financial-record keeping.</a:t>
            </a:r>
          </a:p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Strengthen cost and margin management.</a:t>
            </a:r>
          </a:p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Target lower-profitability businesses.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94760"/>
            <a:ext cx="5349240" cy="1874519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023360"/>
            <a:ext cx="4297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99730"/>
                </a:solidFill>
                <a:latin typeface="Aptos Display"/>
              </a:rPr>
              <a:t>Inclusion &amp; 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44568"/>
            <a:ext cx="4617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Strengthen women-focused income interventions.</a:t>
            </a:r>
          </a:p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Increase youth participation.</a:t>
            </a:r>
          </a:p>
          <a:p>
            <a:pPr>
              <a:spcAft>
                <a:spcPts val="800"/>
              </a:spcAft>
              <a:defRPr sz="1000">
                <a:solidFill>
                  <a:srgbClr val="262B30"/>
                </a:solidFill>
                <a:latin typeface="Aptos"/>
              </a:defRPr>
            </a:pPr>
            <a:r>
              <a:t>â€¢ Embed resilience measures across components.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M&amp;E Implementation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The M&amp;E system should remain an active management tool throughout implementation.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M&amp;E 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2920" cy="502920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3560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Track baseline indicators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Use the baseline as the reference point for quarterly and annual performance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67128"/>
            <a:ext cx="502920" cy="502920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18541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Strengthen 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67128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Maintain validation, DQA, source verification and back-checks.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16936"/>
            <a:ext cx="502920" cy="502920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3580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35224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Disaggregate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16936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Review results by LGA, value chain, sex, age and beneficiary type.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66744"/>
            <a:ext cx="502920" cy="502920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85615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85031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Investigate variance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666744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Identify causes when performance deviates materially from targets.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16552"/>
            <a:ext cx="502920" cy="502920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3542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3484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Document corrective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416552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Assign responsibility, deadlines and evidence requirements.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66359"/>
            <a:ext cx="502920" cy="502920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85231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184647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 Display"/>
              </a:rPr>
              <a:t>Use evidence for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166359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2B30"/>
                </a:solidFill>
                <a:latin typeface="Aptos"/>
              </a:rPr>
              <a:t>Feed M&amp;E findings into planning, resource allocation and adaptive management.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5897880"/>
            <a:ext cx="10149840" cy="50292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6007608"/>
            <a:ext cx="982065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2B4A"/>
                </a:solidFill>
                <a:latin typeface="Aptos"/>
              </a:rPr>
              <a:t>Management cycle: Identify variance â†’ investigate â†’ document evidence â†’ corrective action â†’ assign responsibility â†’ monitor.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The baseline provides a structured evidence base for implementation planning, performance monitoring and adaptive 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30352" cy="329184"/>
          </a:xfrm>
          <a:prstGeom prst="roundRect">
            <a:avLst/>
          </a:prstGeom>
          <a:solidFill>
            <a:srgbClr val="2A5D8C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5303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2471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8C"/>
                </a:solidFill>
                <a:latin typeface="Aptos"/>
              </a:rPr>
              <a:t>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0972800" cy="1143000"/>
          </a:xfrm>
          <a:prstGeom prst="roundRect">
            <a:avLst/>
          </a:prstGeom>
          <a:solidFill>
            <a:srgbClr val="142B4A"/>
          </a:solidFill>
          <a:ln w="12700">
            <a:solidFill>
              <a:srgbClr val="14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The programme starts from a mixed baseline: strong agricultural practice adoption and beneficiary income coexist with important gaps in market access, resilience, MSME performance and women's economic outcomes.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54680"/>
            <a:ext cx="3246120" cy="1828800"/>
          </a:xfrm>
          <a:prstGeom prst="roundRect">
            <a:avLst/>
          </a:prstGeom>
          <a:solidFill>
            <a:srgbClr val="E2F0E7"/>
          </a:solidFill>
          <a:ln w="12700">
            <a:solidFill>
              <a:srgbClr val="2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107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F7A52"/>
                </a:solidFill>
                <a:latin typeface="Aptos Display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59352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2B30"/>
                </a:solidFill>
                <a:latin typeface="Aptos"/>
              </a:rPr>
              <a:t>Practice adoption and income provide a strong platform for implementation.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154680"/>
            <a:ext cx="3246120" cy="1828800"/>
          </a:xfrm>
          <a:prstGeom prst="roundRect">
            <a:avLst/>
          </a:prstGeom>
          <a:solidFill>
            <a:srgbClr val="F8E2E2"/>
          </a:solidFill>
          <a:ln w="12700">
            <a:solidFill>
              <a:srgbClr val="B0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4107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B04343"/>
                </a:solidFill>
                <a:latin typeface="Aptos Display"/>
              </a:rPr>
              <a:t>Priority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959352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2B30"/>
                </a:solidFill>
                <a:latin typeface="Aptos"/>
              </a:rPr>
              <a:t>Market access, resilience, MSME profitability and women's income require targeted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154680"/>
            <a:ext cx="3246120" cy="1828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4107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A5D8C"/>
                </a:solidFill>
                <a:latin typeface="Aptos Display"/>
              </a:rPr>
              <a:t>M&amp;E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959352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2B30"/>
                </a:solidFill>
                <a:latin typeface="Aptos"/>
              </a:rPr>
              <a:t>Regular indicator review and DQA will support adaptive management and accountability.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5440680"/>
            <a:ext cx="9235440" cy="594360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5550408"/>
            <a:ext cx="890625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  <a:latin typeface="Aptos"/>
              </a:rPr>
              <a:t>Next step: translate the baseline findings into an implementation-linked performance monitoring plan.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56F"/>
                </a:solidFill>
                <a:latin typeface="Aptos"/>
              </a:rPr>
              <a:t>ALMDP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56F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6F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99730"/>
                </a:solidFill>
                <a:latin typeface="Aptos Display"/>
              </a:rPr>
              <a:t>ALMDP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858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 Display"/>
              </a:rPr>
              <a:t>Baseline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DEBF7"/>
                </a:solidFill>
                <a:latin typeface="Aptos"/>
              </a:rPr>
              <a:t>Evidence for implementation, learning and adaptive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749039"/>
            <a:ext cx="4937760" cy="566928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858768"/>
            <a:ext cx="46085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B4A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70916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Agricultural Livelihoods and MSME Development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13892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DEBF7"/>
                </a:solidFill>
                <a:latin typeface="Aptos"/>
              </a:rPr>
              <a:t>Kaduna State, Nigeria | Baseline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4173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 Display"/>
              </a:rPr>
              <a:t>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0574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DDEBF7"/>
                </a:solidFill>
                <a:latin typeface="Aptos"/>
              </a:rPr>
              <a:t>beneficiaries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88036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99730"/>
                </a:solidFill>
                <a:latin typeface="Aptos Display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42900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88036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99730"/>
                </a:solidFill>
                <a:latin typeface="Aptos Display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34290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report visuals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61772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M&amp;E 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DEBF7"/>
                </a:solidFill>
                <a:latin typeface="Aptos"/>
              </a:rPr>
              <a:t>Results â€¢ Data Quality â€¢ Analysis â€¢ Reporting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DDEBF7"/>
                </a:solidFill>
                <a:latin typeface="Aptos"/>
              </a:rPr>
              <a:t>Agricultural Livelihoods and MSME Development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99730"/>
                </a:solidFill>
                <a:latin typeface="Aptos"/>
              </a:rPr>
              <a:t>Baseline Assessment | Kaduna State, Nigeria |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4617720"/>
            <a:ext cx="5897880" cy="566928"/>
          </a:xfrm>
          <a:prstGeom prst="roundRect">
            <a:avLst/>
          </a:prstGeom>
          <a:solidFill>
            <a:srgbClr val="F7EFD7"/>
          </a:solidFill>
          <a:ln w="12700">
            <a:solidFill>
              <a:srgbClr val="C9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19272" y="4727448"/>
            <a:ext cx="556869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B4A"/>
                </a:solidFill>
                <a:latin typeface="Aptos"/>
              </a:rPr>
              <a:t>SYNTHETIC / SIMULATED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4864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DEBF7"/>
                </a:solidFill>
                <a:latin typeface="Aptos"/>
              </a:rPr>
              <a:t>M&amp;E | Data Quality | Analysis |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